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54864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286000"/>
            <a:ext cx="54864" cy="3200400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200" b="1">
                <a:solidFill>
                  <a:srgbClr val="FFFFFF"/>
                </a:solidFill>
                <a:latin typeface="Calibri"/>
              </a:defRPr>
            </a:pPr>
            <a:r>
              <a:t>Predictor Mundial FIFA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0">
                <a:solidFill>
                  <a:srgbClr val="A8CCE8"/>
                </a:solidFill>
                <a:latin typeface="Calibri"/>
              </a:defRPr>
            </a:pPr>
            <a:r>
              <a:t>Sistema de prediccion deportiva basado en Machine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4048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7A95B0"/>
                </a:solidFill>
                <a:latin typeface="Calibri"/>
              </a:defRPr>
            </a:pPr>
            <a:r>
              <a:t>Pipeline progresivo · Modelos de clasificacion y regresion · Dashboard interactivo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A8CCE8"/>
                </a:solidFill>
                <a:latin typeface="Calibri"/>
              </a:defRPr>
            </a:pPr>
            <a:r>
              <a:t>Ciencia de Datos  |  Inteligencia Artificial  |  Deportes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A95B0"/>
                </a:solidFill>
                <a:latin typeface="Calibri"/>
              </a:defRPr>
            </a:pPr>
            <a:r>
              <a:t>Fases eliminatorias  |  31 features  |  Ensemble ponderado</a:t>
            </a:r>
          </a:p>
        </p:txBody>
      </p:sp>
      <p:sp>
        <p:nvSpPr>
          <p:cNvPr id="10" name="Oval 9"/>
          <p:cNvSpPr/>
          <p:nvPr/>
        </p:nvSpPr>
        <p:spPr>
          <a:xfrm>
            <a:off x="9601200" y="1828800"/>
            <a:ext cx="2286000" cy="2286000"/>
          </a:xfrm>
          <a:prstGeom prst="ellipse">
            <a:avLst/>
          </a:prstGeom>
          <a:solidFill>
            <a:srgbClr val="0F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75520" y="2103120"/>
            <a:ext cx="1737360" cy="1737360"/>
          </a:xfrm>
          <a:prstGeom prst="ellipse">
            <a:avLst/>
          </a:prstGeom>
          <a:solidFill>
            <a:srgbClr val="143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0020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Introduccion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Motivacion, objetivo y alcance del proyecto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37160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37160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60020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160020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Datos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0312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Fuentes de informacion y estructura de datos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137160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59" y="137160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39" y="160020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39" y="160020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Ingenieria de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39" y="210312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31 variables predictivas disenadas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19" y="137160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19" y="137160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599" y="160020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60020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Modelos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599" y="210312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Clasificadores, regresores y ensemble ponderado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93192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16052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16052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66344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Flujo progresivo R32 a FINAL con validacion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393192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29000" y="393192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1880" y="416052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9080" y="416052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Resultados Globales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66344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Accuracy y resumen por fase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59" y="393192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59" y="393192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39" y="416052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39" y="416052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Resultados por Fase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39" y="466344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R32, R16, QF y SF detallados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89719" y="393192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89719" y="393192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72599" y="416052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29799" y="416052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72599" y="466344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Variables mas influyentes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649224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649224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72084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8720" y="67208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722376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Visualizacion interactiva con Streamlit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29000" y="649224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29000" y="649224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11880" y="672084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9080" y="67208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Evaluacion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11880" y="722376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Metricas y validacion automatica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09359" y="649224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09359" y="649224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39" y="672084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39" y="67208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39" y="722376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Hallazgos, logros y trabajo futuro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649224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8640" y="649224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672084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88720" y="67208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722376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Visualizacion interactiva con Streamlit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29000" y="649224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429000" y="649224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11880" y="672084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69080" y="67208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Evaluacion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722376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Metricas y validacion automatica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309359" y="649224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309359" y="649224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92239" y="672084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39" y="67208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92239" y="722376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Hallazgos, logros y trabajo futuro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Introduccion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Motivacion, objetivo y alcance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48463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Desarrollar un sistema reproducible de prediccion</a:t>
            </a:r>
            <a:br/>
            <a:r>
              <a:t>deportiva basado en Machine Learning para las</a:t>
            </a:r>
            <a:br/>
            <a:r>
              <a:t>fases eliminatorias de la Copa Mundial FIFA 2026.</a:t>
            </a:r>
            <a:br/>
            <a:br/>
            <a:r>
              <a:t>El pipeline avanza fase por fase utilizando</a:t>
            </a:r>
            <a:br/>
            <a:r>
              <a:t>unicamente resultados oficiales ya disputados,</a:t>
            </a:r>
            <a:br/>
            <a:r>
              <a:t>garantizando consistencia en cada etapa.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Motivacion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48463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Demostrar aplicacion de Machine Learning en</a:t>
            </a:r>
            <a:br/>
            <a:r>
              <a:t>analisis deportivo con un enfoque progresivo.</a:t>
            </a:r>
            <a:br/>
            <a:br/>
            <a:r>
              <a:t>Combinacion de modelos de clasificacion para</a:t>
            </a:r>
            <a:br/>
            <a:r>
              <a:t>predecir el ganador, regresion para el marcador</a:t>
            </a:r>
            <a:br/>
            <a:r>
              <a:t>y modelo especializado para definicion por penales.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Arquitectura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63440"/>
            <a:ext cx="48463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Datos historicos (2014, 2018, 2022)  &gt;  Feature Engineering</a:t>
            </a:r>
            <a:br/>
            <a:r>
              <a:t>&gt;  Entrenamiento de modelos  &gt;  Prediccion por fase</a:t>
            </a:r>
            <a:br/>
            <a:r>
              <a:t>(R32  &gt;  R16  &gt;  QF  &gt;  SF  &gt;  FINAL)</a:t>
            </a:r>
            <a:br/>
            <a:br/>
            <a:r>
              <a:t>Cada fase congela los enfrentamientos oficiales.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1148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1148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976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Alcance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663440"/>
            <a:ext cx="48463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6 fases eliminatorias del Mundial 2026</a:t>
            </a:r>
            <a:br/>
            <a:r>
              <a:t>3 modelos de clasificacion + 2 regresores + penal</a:t>
            </a:r>
            <a:br/>
            <a:r>
              <a:t>Dashboard interactivo en Streamlit</a:t>
            </a:r>
            <a:br/>
            <a:r>
              <a:t>Reportes automaticos y metricas por fase</a:t>
            </a:r>
            <a:br/>
            <a:r>
              <a:t>Validacion contra resultados reales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Stack Tecnologico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0A1F4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3108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5D9ECF"/>
                </a:solidFill>
                <a:latin typeface="Calibri"/>
              </a:defRPr>
            </a:pPr>
            <a:r>
              <a:t>Lenguaje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31089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Pandas, NumPy, Scikit-learn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55448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0A1F44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20240"/>
            <a:ext cx="3108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5D9ECF"/>
                </a:solidFill>
                <a:latin typeface="Calibri"/>
              </a:defRPr>
            </a:pPr>
            <a:r>
              <a:t>Gradient Boosting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286000"/>
            <a:ext cx="31089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Clasificacion y regresion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55448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0A1F44"/>
                </a:solidFill>
                <a:latin typeface="Calibri"/>
              </a:defRPr>
            </a:pPr>
            <a:r>
              <a:t>Streamlit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920240"/>
            <a:ext cx="3108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5D9ECF"/>
                </a:solidFill>
                <a:latin typeface="Calibri"/>
              </a:defRPr>
            </a:pPr>
            <a:r>
              <a:t>Dashboard interactivo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31089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Visualizacion de datos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023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2336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4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0A1F44"/>
                </a:solidFill>
                <a:latin typeface="Calibri"/>
              </a:defRPr>
            </a:pPr>
            <a:r>
              <a:t>Plotly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572000"/>
            <a:ext cx="3108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5D9ECF"/>
                </a:solidFill>
                <a:latin typeface="Calibri"/>
              </a:defRPr>
            </a:pPr>
            <a:r>
              <a:t>Graficos interactivos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937760"/>
            <a:ext cx="31089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Curvas y feature importance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4023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80" y="402336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420624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0A1F44"/>
                </a:solidFill>
                <a:latin typeface="Calibri"/>
              </a:defRPr>
            </a:pPr>
            <a:r>
              <a:t>Joblib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4572000"/>
            <a:ext cx="3108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5D9ECF"/>
                </a:solidFill>
                <a:latin typeface="Calibri"/>
              </a:defRPr>
            </a:pPr>
            <a:r>
              <a:t>Persistencia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937760"/>
            <a:ext cx="31089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Modelos guardados en disco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023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402336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20624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0A1F44"/>
                </a:solidFill>
                <a:latin typeface="Calibri"/>
              </a:defRPr>
            </a:pPr>
            <a:r>
              <a:t>Pytest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572000"/>
            <a:ext cx="3108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5D9ECF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937760"/>
            <a:ext cx="31089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Validacion del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Fuentes de informacion y estructura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657600" cy="9144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data/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A8CCE8"/>
                </a:solidFill>
                <a:latin typeface="Calibri"/>
              </a:defRPr>
            </a:pPr>
            <a:r>
              <a:t>raw/   &gt;   Datos originales sin procesar</a:t>
            </a:r>
            <a:br/>
            <a:r>
              <a:t>processed/   &gt;   Datos transformados por fase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37160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1371600"/>
            <a:ext cx="242316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481328"/>
            <a:ext cx="2148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5D9ECF"/>
                </a:solidFill>
                <a:latin typeface="Calibri"/>
              </a:defRPr>
            </a:pPr>
            <a:r>
              <a:t>historical_matches.csv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21488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Partidos eliminatorios 2014-2022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4884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36 registros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137160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86600" y="1371600"/>
            <a:ext cx="242316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1481328"/>
            <a:ext cx="2148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5D9ECF"/>
                </a:solidFill>
                <a:latin typeface="Calibri"/>
              </a:defRPr>
            </a:pPr>
            <a:r>
              <a:t>teams_static.csv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1828800"/>
            <a:ext cx="21488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Estadisticas de selecciones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14884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Ranking, grupos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137160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692640" y="1371600"/>
            <a:ext cx="242316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9800" y="1481328"/>
            <a:ext cx="2148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5D9ECF"/>
                </a:solidFill>
                <a:latin typeface="Calibri"/>
              </a:defRPr>
            </a:pPr>
            <a:r>
              <a:t>players.csv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1828800"/>
            <a:ext cx="21488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Jugadores clave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214884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Edad, goles, lesiones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10896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60" y="3108960"/>
            <a:ext cx="242316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218688"/>
            <a:ext cx="2148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5D9ECF"/>
                </a:solidFill>
                <a:latin typeface="Calibri"/>
              </a:defRPr>
            </a:pPr>
            <a:r>
              <a:t>historical_h2h.csv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3566160"/>
            <a:ext cx="21488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Head-to-Head historico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88620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Enfrentamientos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86600" y="310896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86600" y="3108960"/>
            <a:ext cx="242316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3218688"/>
            <a:ext cx="2148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5D9ECF"/>
                </a:solidFill>
                <a:latin typeface="Calibri"/>
              </a:defRPr>
            </a:pPr>
            <a:r>
              <a:t>bracket_map.json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566160"/>
            <a:ext cx="21488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Cuadro eliminatorio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88620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Estructura del torneo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310896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92640" y="3108960"/>
            <a:ext cx="242316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3218688"/>
            <a:ext cx="2148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5D9ECF"/>
                </a:solidFill>
                <a:latin typeface="Calibri"/>
              </a:defRPr>
            </a:pPr>
            <a:r>
              <a:t>official_results.csv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3566160"/>
            <a:ext cx="21488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Resultados oficiales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388620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Actualizados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029200"/>
            <a:ext cx="11247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029200"/>
            <a:ext cx="1124712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21208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Procesamiento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57784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Los datos crudos se transforman mediante ingenieria de features para generar 31 variables predictoras.</a:t>
            </a:r>
            <a:br/>
            <a:r>
              <a:t>Cada fase del torneo produce sus propios archivos de prediccion, comparacion y metricas en data/processed/.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Ingenieria de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31 variables predictivas organizadas en 6 categorias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66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Ranking y Mundial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2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fifa_ranking_pts_diff</a:t>
            </a:r>
            <a:br/>
            <a:r>
              <a:t>fifa_ranking_pos_diff</a:t>
            </a:r>
            <a:br/>
            <a:r>
              <a:t>wc_appearances_diff</a:t>
            </a:r>
            <a:br/>
            <a:r>
              <a:t>wc_best_stage_diff</a:t>
            </a:r>
            <a:br/>
            <a:r>
              <a:t>wc_titles_diff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566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50876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Rendimiento Grupos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87452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goals_for_group_diff</a:t>
            </a:r>
            <a:br/>
            <a:r>
              <a:t>goals_against_group_diff</a:t>
            </a:r>
            <a:br/>
            <a:r>
              <a:t>group_strength_score_diff</a:t>
            </a:r>
            <a:br/>
            <a:r>
              <a:t>group_position_a /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371600"/>
            <a:ext cx="3566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50876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Jugadores Clave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87452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key_player_availability_diff</a:t>
            </a:r>
            <a:br/>
            <a:r>
              <a:t>top_scorer_goals_tournament_diff</a:t>
            </a:r>
            <a:br/>
            <a:r>
              <a:t>key_players_avg_age_diff</a:t>
            </a:r>
            <a:br/>
            <a:r>
              <a:t>key_players_prev_wc_goals_diff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023360"/>
            <a:ext cx="3566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02336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Estadisticas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possession_avg_diff</a:t>
            </a:r>
            <a:br/>
            <a:r>
              <a:t>shots_on_target_avg_diff</a:t>
            </a:r>
            <a:br/>
            <a:r>
              <a:t>defensive_efficiency_diff</a:t>
            </a:r>
            <a:br/>
            <a:r>
              <a:t>clean_sheets_ko_diff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023360"/>
            <a:ext cx="3566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402336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416052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Head-to-Head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5262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h2h_wins_a / h2h_wins_b</a:t>
            </a:r>
            <a:br/>
            <a:r>
              <a:t>h2h_draws</a:t>
            </a:r>
            <a:br/>
            <a:r>
              <a:t>h2h_goal_diff_avg</a:t>
            </a:r>
            <a:br/>
            <a:r>
              <a:t>h2h_penalties_a_win_rate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023360"/>
            <a:ext cx="3566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402336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416052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Historial KO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262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ko_stage_historical_win_rate_a</a:t>
            </a:r>
            <a:br/>
            <a:r>
              <a:t>ko_stage_historical_win_rate_b</a:t>
            </a:r>
            <a:br/>
            <a:r>
              <a:t>stage_ordinal</a:t>
            </a:r>
            <a:br/>
            <a:r>
              <a:t>host_advantage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Modelos de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Clasificacion, regresion y ensemble ponderado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Clasificadores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48463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Logistic Regression  |  max_iter=2000, class_weight=balanced</a:t>
            </a:r>
            <a:br/>
            <a:r>
              <a:t>Random Forest       |  500 arboles, max_depth=5</a:t>
            </a:r>
            <a:br/>
            <a:r>
              <a:t>XGBoost              |  400 arboles, learning_rate=0.03</a:t>
            </a:r>
            <a:br/>
            <a:br/>
            <a:r>
              <a:t>Cada modelo predice P(gana Team_A) para cada partido.</a:t>
            </a:r>
            <a:br/>
            <a:r>
              <a:t>Output: probabilidad de avance por equipo.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Regresores y Penal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48463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XGBRegressor (score_a)  |  objective=count:poisson</a:t>
            </a:r>
            <a:br/>
            <a:r>
              <a:t>XGBRegressor (score_b)  |  objective=count:poisson</a:t>
            </a:r>
            <a:br/>
            <a:br/>
            <a:r>
              <a:t>Predicen goles en tiempo regular (90 min) por equipo.</a:t>
            </a:r>
            <a:br/>
            <a:r>
              <a:t>Si hay empate: LogisticRegression para penales</a:t>
            </a:r>
            <a:br/>
            <a:r>
              <a:t>(solo si hay 6+ partidos con penales en training).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Ensemble Ponderado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63440"/>
            <a:ext cx="48463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Cada clasificador recibe un peso dinamico basado en</a:t>
            </a:r>
            <a:br/>
            <a:r>
              <a:t>su accuracy historica en fases anteriores.</a:t>
            </a:r>
            <a:br/>
            <a:br/>
            <a:r>
              <a:t>Pesos iniciales: 1/3 cada uno.</a:t>
            </a:r>
            <a:br/>
            <a:r>
              <a:t>Se recalculan tras cada validacion (update_stage)</a:t>
            </a:r>
            <a:br/>
            <a:r>
              <a:t>usando la formula: Peso_m = acc_m / sum(acc_total)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1148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1148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976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Entrenamiento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663440"/>
            <a:ext cx="48463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Los modelos se entrenan con datos de fases KO de</a:t>
            </a:r>
            <a:br/>
            <a:r>
              <a:t>Mundiales 2014, 2018 y 2022 (36 partidos).</a:t>
            </a:r>
            <a:br/>
            <a:br/>
            <a:r>
              <a:t>Se guardan en saved_models/ con Joblib para</a:t>
            </a:r>
            <a:br/>
            <a:r>
              <a:t>reutilizarse entre ejecuciones.</a:t>
            </a:r>
            <a:br/>
            <a:r>
              <a:t>Reentrenables con: python scripts/train_models.py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 Progresivo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Flujo de ejecucion fase por fase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210312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920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920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A8CCE8"/>
                </a:solidFill>
                <a:latin typeface="Calibri"/>
              </a:defRPr>
            </a:pPr>
            <a:r>
              <a:t>Dieciseisavos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79" y="173736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371600"/>
            <a:ext cx="210312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1417320"/>
            <a:ext cx="1920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874519"/>
            <a:ext cx="1920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A8CCE8"/>
                </a:solidFill>
                <a:latin typeface="Calibri"/>
              </a:defRPr>
            </a:pPr>
            <a:r>
              <a:t>Octavos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1371600"/>
            <a:ext cx="210312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79" y="1417320"/>
            <a:ext cx="1920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QF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9" y="1874519"/>
            <a:ext cx="1920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A8CCE8"/>
                </a:solidFill>
                <a:latin typeface="Calibri"/>
              </a:defRPr>
            </a:pPr>
            <a:r>
              <a:t>Cuartos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59" y="173736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371600"/>
            <a:ext cx="210312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19" y="1417320"/>
            <a:ext cx="1920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1874519"/>
            <a:ext cx="1920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A8CCE8"/>
                </a:solidFill>
                <a:latin typeface="Calibri"/>
              </a:defRPr>
            </a:pPr>
            <a:r>
              <a:t>Semifinales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173736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19" y="1371600"/>
            <a:ext cx="210312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59" y="1417320"/>
            <a:ext cx="1920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59" y="1874519"/>
            <a:ext cx="1920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A8CCE8"/>
                </a:solidFill>
                <a:latin typeface="Calibri"/>
              </a:defRPr>
            </a:pPr>
            <a:r>
              <a:t>Final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017520"/>
            <a:ext cx="11247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017520"/>
            <a:ext cx="1124712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20040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Flujo de ejecucion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611880"/>
            <a:ext cx="36576" cy="548640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611880"/>
            <a:ext cx="3657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2E86AB"/>
                </a:solidFill>
                <a:latin typeface="Calibri"/>
              </a:defRPr>
            </a:pPr>
            <a:r>
              <a:t>python scripts/run_stage.py &lt;FASE&gt;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611880"/>
            <a:ext cx="6583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Predice los partidos de la fase actual usando modelos entrenados con datos historicos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251960"/>
            <a:ext cx="36576" cy="548640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251960"/>
            <a:ext cx="3657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2E86AB"/>
                </a:solidFill>
                <a:latin typeface="Calibri"/>
              </a:defRPr>
            </a:pPr>
            <a:r>
              <a:t>python scripts/update_stage.py &lt;FASE&gt;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4251960"/>
            <a:ext cx="6583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Valida las predicciones contra resultados oficiales y recalcula pesos del ensemble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892040"/>
            <a:ext cx="36576" cy="548640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4892040"/>
            <a:ext cx="3657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2E86AB"/>
                </a:solidFill>
                <a:latin typeface="Calibri"/>
              </a:defRPr>
            </a:pPr>
            <a:r>
              <a:t>Repetir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892040"/>
            <a:ext cx="6583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Avanzar a la siguiente fase hasta llegar a la Final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5532120"/>
            <a:ext cx="36576" cy="548640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532120"/>
            <a:ext cx="3657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C8A24A"/>
                </a:solidFill>
                <a:latin typeface="Calibri"/>
              </a:defRPr>
            </a:pPr>
            <a:r>
              <a:t>Mecanismo de guardia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5532120"/>
            <a:ext cx="6583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No se puede avanzar si la fase anterior no ha sido validada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Resultados Globales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Accuracy por fase del torneo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69748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2514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A8CCE8"/>
                </a:solidFill>
                <a:latin typeface="Calibri"/>
              </a:defRPr>
            </a:pPr>
            <a:r>
              <a:t>Dieciseisavos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2514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11/16 aciertos  |  69%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371600"/>
            <a:ext cx="269748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417320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783080"/>
            <a:ext cx="2514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A8CCE8"/>
                </a:solidFill>
                <a:latin typeface="Calibri"/>
              </a:defRPr>
            </a:pPr>
            <a:r>
              <a:t>Octavos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103120"/>
            <a:ext cx="2514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6/8 aciertos  |  75%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371600"/>
            <a:ext cx="269748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417320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QF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783080"/>
            <a:ext cx="2514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A8CCE8"/>
                </a:solidFill>
                <a:latin typeface="Calibri"/>
              </a:defRPr>
            </a:pPr>
            <a:r>
              <a:t>Cuartos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03120"/>
            <a:ext cx="2514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3/4 aciertos  |  75%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69748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417320"/>
            <a:ext cx="2514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1783080"/>
            <a:ext cx="2514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A8CCE8"/>
                </a:solidFill>
                <a:latin typeface="Calibri"/>
              </a:defRPr>
            </a:pPr>
            <a:r>
              <a:t>Semifinales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2514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0/0 aciertos  |  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17520"/>
            <a:ext cx="112471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004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Evolucion del accuracy por fase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685032"/>
            <a:ext cx="7315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R32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3657600"/>
            <a:ext cx="7315200" cy="3200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4400" y="3657600"/>
            <a:ext cx="5029200" cy="320040"/>
          </a:xfrm>
          <a:prstGeom prst="round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675888"/>
            <a:ext cx="18288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69%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675888"/>
            <a:ext cx="36576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11/16 partidos correctos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096512"/>
            <a:ext cx="7315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R16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4069080"/>
            <a:ext cx="7315200" cy="3200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14400" y="4069080"/>
            <a:ext cx="5486400" cy="32004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087368"/>
            <a:ext cx="18288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087368"/>
            <a:ext cx="36576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6/8 partidos correctos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507992"/>
            <a:ext cx="7315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QF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4480560"/>
            <a:ext cx="7315200" cy="3200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400" y="4480560"/>
            <a:ext cx="5486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498848"/>
            <a:ext cx="18288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4498848"/>
            <a:ext cx="36576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3/4 partidos correctos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919472"/>
            <a:ext cx="7315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SF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" y="4892040"/>
            <a:ext cx="7315200" cy="3200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910328"/>
            <a:ext cx="18288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910328"/>
            <a:ext cx="36576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0/0 partidos correctos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37760"/>
            <a:ext cx="112471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937760"/>
            <a:ext cx="1124712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07492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0A1F44"/>
                </a:solidFill>
                <a:latin typeface="Calibri"/>
              </a:defRPr>
            </a:pPr>
            <a:r>
              <a:t>Mejor modelo por fase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40680"/>
            <a:ext cx="25603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R32: random_forest (69%)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66160" y="5440680"/>
            <a:ext cx="25603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R16: random_forest (62%)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5440680"/>
            <a:ext cx="25603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QF: random_forest (100%)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Resultados - Dieciseisavos (R32)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16 partidos  |  11 aciertos  |  68.75% accuracy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486400" cy="594360"/>
          </a:xfrm>
          <a:prstGeom prst="round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6576" cy="5943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258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RSA vs 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Pred: RSA (1-1)  |  Real: CAN (0-1)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89888"/>
            <a:ext cx="109728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FALLO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86400" cy="594360"/>
          </a:xfrm>
          <a:prstGeom prst="round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36576" cy="5943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3258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GER vs PAR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572768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Pred: GER (2-1)  |  Real: PAR (1-1)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389888"/>
            <a:ext cx="109728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FALLO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965960"/>
            <a:ext cx="5486400" cy="594360"/>
          </a:xfrm>
          <a:prstGeom prst="round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1965960"/>
            <a:ext cx="36576" cy="5943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0116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NED vs MAR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258568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Pred: NED (2-1)  |  Real: MAR (1-1)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075688"/>
            <a:ext cx="109728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FALLO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965960"/>
            <a:ext cx="5486400" cy="5943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65960"/>
            <a:ext cx="36576" cy="5943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116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BRA vs JPN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258568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Pred: BRA (2-0)  |  Real: BRA (2-1)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2075688"/>
            <a:ext cx="109728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2651760"/>
            <a:ext cx="5486400" cy="5943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2651760"/>
            <a:ext cx="36576" cy="5943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26974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FRA vs SWE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2944368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Pred: FRA (3-0)  |  Real: FRA (3-0)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2761488"/>
            <a:ext cx="109728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651760"/>
            <a:ext cx="5486400" cy="594360"/>
          </a:xfrm>
          <a:prstGeom prst="round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2651760"/>
            <a:ext cx="36576" cy="5943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26974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CIV vs NOR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944368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Pred: CIV (1-1)  |  Real: NOR (1-2)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2761488"/>
            <a:ext cx="109728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FALLO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337560"/>
            <a:ext cx="5486400" cy="5943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337560"/>
            <a:ext cx="36576" cy="5943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3832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MEX vs ECU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630168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Pred: MEX (1-1)  |  Real: MEX (2-0)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3447288"/>
            <a:ext cx="109728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337560"/>
            <a:ext cx="5486400" cy="5943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3337560"/>
            <a:ext cx="36576" cy="5943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33832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ENG vs COD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630168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Pred: ENG (2-0)  |  Real: ENG (2-1)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3447288"/>
            <a:ext cx="109728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206240"/>
            <a:ext cx="11247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29768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A1F44"/>
                </a:solidFill>
                <a:latin typeface="Calibri"/>
              </a:defRPr>
            </a:pPr>
            <a:r>
              <a:t>Resto de partidos R32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4663440"/>
            <a:ext cx="105156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USA-BIH: USA&gt;USA (+)  BEL-SEN: BEL&gt;BEL (+)  POR-CRO: POR&gt;POR (+)  ESP-AUT: ESP&gt;ESP (+)  SUI-ALG: SUI&gt;SUI (+)  ARG-CPV: ARG&gt;ARG (+)  COL-GHA: COL&gt;COL (+)  AUS-EGY: AUS&gt;EGY (-) 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Resultados - Octavos (R16)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8 partidos  |  6 aciertos  |  75% accuracy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0515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6576" cy="10515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A1F44"/>
                </a:solidFill>
                <a:latin typeface="Calibri"/>
              </a:defRPr>
            </a:pPr>
            <a:r>
              <a:t>PAR vs FRA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FRA (0-2)  Prob: 16%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9339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Real: FRA (0-1)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9164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486400" cy="10515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36576" cy="10515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44752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A1F44"/>
                </a:solidFill>
                <a:latin typeface="Calibri"/>
              </a:defRPr>
            </a:pPr>
            <a:r>
              <a:t>CAN vs MAR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73736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MAR (0-0)  Prob: 41%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99339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Real: MAR (0-3)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169164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606040"/>
            <a:ext cx="5486400" cy="1051560"/>
          </a:xfrm>
          <a:prstGeom prst="round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36576" cy="10515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79192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A1F44"/>
                </a:solidFill>
                <a:latin typeface="Calibri"/>
              </a:defRPr>
            </a:pPr>
            <a:r>
              <a:t>BRA vs NOR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97180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BRA (2-0)  Prob: 85%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22783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Real: NOR (1-2)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92608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FALLO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606040"/>
            <a:ext cx="5486400" cy="10515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606040"/>
            <a:ext cx="36576" cy="10515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679192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A1F44"/>
                </a:solidFill>
                <a:latin typeface="Calibri"/>
              </a:defRPr>
            </a:pPr>
            <a:r>
              <a:t>MEX vs ENG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97180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ENG (1-2)  Prob: 28%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2783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Real: ENG (2-3)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92608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840480"/>
            <a:ext cx="5486400" cy="1051560"/>
          </a:xfrm>
          <a:prstGeom prst="round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840480"/>
            <a:ext cx="36576" cy="10515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913632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A1F44"/>
                </a:solidFill>
                <a:latin typeface="Calibri"/>
              </a:defRPr>
            </a:pPr>
            <a:r>
              <a:t>POR vs ESP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20624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POR (1-1)  Prob: 81%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46227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Real: ESP (0-1)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4160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FALLO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840480"/>
            <a:ext cx="5486400" cy="10515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3840480"/>
            <a:ext cx="36576" cy="10515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3913632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A1F44"/>
                </a:solidFill>
                <a:latin typeface="Calibri"/>
              </a:defRPr>
            </a:pPr>
            <a:r>
              <a:t>USA vs BEL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20624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BEL (1-0)  Prob: 24%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46227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Real: BEL (1-4)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4160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074920"/>
            <a:ext cx="5486400" cy="10515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074920"/>
            <a:ext cx="36576" cy="10515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5148072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A1F44"/>
                </a:solidFill>
                <a:latin typeface="Calibri"/>
              </a:defRPr>
            </a:pPr>
            <a:r>
              <a:t>ARG vs EGY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544068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ARG (2-0)  Prob: 97%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69671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Real: ARG (3-2)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539496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5074920"/>
            <a:ext cx="5486400" cy="10515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5074920"/>
            <a:ext cx="36576" cy="10515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55080" y="5148072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A1F44"/>
                </a:solidFill>
                <a:latin typeface="Calibri"/>
              </a:defRPr>
            </a:pPr>
            <a:r>
              <a:t>SUI vs COL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5080" y="544068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SUI (1-1)  Prob: 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69671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Real: SUI (0-0)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539496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Resultados - Cuartos (QF) y Semifinales (SF)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QF: 4 partidos - 75%  |  SF: 2 partidos - pendientes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486400" cy="36576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50292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Cuartos de Final (QF)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83080"/>
            <a:ext cx="5486400" cy="960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36576" cy="960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FRA vs 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3055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FRA (2-0)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Real: FRA (2-0)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1031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80360"/>
            <a:ext cx="5486400" cy="960120"/>
          </a:xfrm>
          <a:prstGeom prst="round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880360"/>
            <a:ext cx="36576" cy="9601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5351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ESP vs 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2783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BEL (1-1)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7472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Real: ESP (2-1)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20040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E74C3C"/>
                </a:solidFill>
                <a:latin typeface="Calibri"/>
              </a:defRPr>
            </a:pPr>
            <a:r>
              <a:t>FALLO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77639"/>
            <a:ext cx="5486400" cy="960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977639"/>
            <a:ext cx="36576" cy="960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50791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NOR vs ENG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25111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ENG (0-0)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571999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Real: ENG (1-1)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297679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74920"/>
            <a:ext cx="5486400" cy="960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074920"/>
            <a:ext cx="36576" cy="960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14807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ARG vs SUI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42239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ARG (1-0)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6928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Real: ARG (1-1)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539496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ACIERTO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1280160"/>
            <a:ext cx="5486400" cy="36576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1298448"/>
            <a:ext cx="50292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Semifinales (SF) - Pendientes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178308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1783080"/>
            <a:ext cx="36576" cy="960120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185623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FRA vs ESP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13055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FRA (1-1)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37744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Prob: 88%  |  LR: 100%  RF: 68%  XGB: 95%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10312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7A95B0"/>
                </a:solidFill>
                <a:latin typeface="Calibri"/>
              </a:defRPr>
            </a:pPr>
            <a:r>
              <a:t>PENDIENTE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288036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09360" y="2880360"/>
            <a:ext cx="36576" cy="960120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295351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ENG vs ARG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3227832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D5A7A"/>
                </a:solidFill>
                <a:latin typeface="Calibri"/>
              </a:defRPr>
            </a:pPr>
            <a:r>
              <a:t>Pred: ARG (1-1)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3474720"/>
            <a:ext cx="3200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Prob: 20%  |  LR: 11%  RF: 18%  XGB: 30%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2004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7A95B0"/>
                </a:solidFill>
                <a:latin typeface="Calibri"/>
              </a:defRPr>
            </a:pPr>
            <a:r>
              <a:t>PENDIENTE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486400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57784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Accuracy acumulada del torneo:  R32 68.75%  &gt;  R16 75%  &gt;  QF 75%  &gt;  SF (pendiente)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594360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Total: 20/28 partidos acertados en fases validadas (R32 + R16 + QF)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Importancia de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Variables mas influyentes por modelo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657600" cy="4572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33832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Logistic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ko_stage_historical_win_rate_b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2039112"/>
            <a:ext cx="1097280" cy="16459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99339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-1.601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3172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5915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ko_stage_historical_win_rate_a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2404872"/>
            <a:ext cx="601320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7360" y="235915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0.877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9748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72491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goals_against_group_diff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2770632"/>
            <a:ext cx="588913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94953" y="272491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0.859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6324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9067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wc_best_stage_diff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3136392"/>
            <a:ext cx="369347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5387" y="309067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0.539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42900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45643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key_players_avg_age_diff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502152"/>
            <a:ext cx="365234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71274" y="345643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0.533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9476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8221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stage_ordinal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3867912"/>
            <a:ext cx="320745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785" y="382219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0.468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16052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8795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group_position_b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0" y="4233672"/>
            <a:ext cx="307720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3760" y="418795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0.449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52628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55371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key_players_prev_wc_goals_diff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0" y="4599432"/>
            <a:ext cx="307446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3486" y="455371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0.449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9120" y="1371600"/>
            <a:ext cx="3657600" cy="4572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80" y="1417320"/>
            <a:ext cx="33832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89120" y="196596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1993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key_players_prev_wc_goals_diff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92240" y="2039112"/>
            <a:ext cx="1097280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35240" y="199339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0.152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89120" y="233172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235915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ko_stage_historical_win_rate_b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2404872"/>
            <a:ext cx="87479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12759" y="235915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0.121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89120" y="269748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59" y="272491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fifa_ranking_pos_diff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2770632"/>
            <a:ext cx="85463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92599" y="272491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0.119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89120" y="306324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0559" y="309067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fifa_ranking_pts_diff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92240" y="3136392"/>
            <a:ext cx="71927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57239" y="309067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0.100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89120" y="342900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80559" y="345643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ko_stage_historical_win_rate_a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92240" y="3502152"/>
            <a:ext cx="42119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59159" y="345643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0.059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89120" y="379476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80559" y="38221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key_players_avg_age_diff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3867912"/>
            <a:ext cx="40607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4039" y="382219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0.056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389120" y="416052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80559" y="418795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wc_best_stage_diff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92240" y="4233672"/>
            <a:ext cx="39959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37559" y="418795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0.056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389120" y="452628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480559" y="455371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stage_ordinal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92240" y="4599432"/>
            <a:ext cx="36575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03719" y="455371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0.051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321040" y="1371600"/>
            <a:ext cx="3657600" cy="4572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58200" y="1417320"/>
            <a:ext cx="33832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321040" y="196596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12480" y="1993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ko_stage_historical_win_rate_b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424159" y="2039112"/>
            <a:ext cx="1097280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567159" y="199339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0.173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321040" y="233172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0" y="235915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key_players_prev_wc_goals_diff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24159" y="2404872"/>
            <a:ext cx="100583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475718" y="235915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0.158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321040" y="269748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12480" y="272491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ko_stage_historical_win_rate_a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424159" y="2770632"/>
            <a:ext cx="930274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400153" y="272491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0.146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321040" y="306324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412480" y="309067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fifa_ranking_pos_diff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424159" y="3136392"/>
            <a:ext cx="904874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374753" y="309067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0.142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21040" y="342900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412480" y="345643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wc_best_stage_diff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424159" y="3502152"/>
            <a:ext cx="626744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096623" y="345643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0.099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21040" y="379476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8221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wc_titles_diff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424159" y="3867912"/>
            <a:ext cx="504824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974703" y="382219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0.080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321040" y="416052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12480" y="418795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goals_for_group_diff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424159" y="4233672"/>
            <a:ext cx="330834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800713" y="418795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0.052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321040" y="452628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412480" y="455371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group_strength_score_diff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424159" y="4599432"/>
            <a:ext cx="264795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34674" y="455371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Dashboard Interactivo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Visualizacion con Streamlit y Plotly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Resumen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Vista general del torneo con predicciones y accuracy por fase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3716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37160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55448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Predicciones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01168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Listado de partidos con marcador y probabilidad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3716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37160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5448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Modelos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01168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Comparacion de rendimiento entre clasificadores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37160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155448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Explicabilidad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01168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Feature importance por fase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2336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2336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0624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Metricas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6344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Evolucion de accuracy, F1-score y errores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402336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83280" y="402336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420624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Historial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66344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Predicciones historicas vs resultados oficiales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402336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402336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20624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Arbol del Mundial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66344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Cuadro eliminatorio interactivo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35440" y="402336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35440" y="402336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420624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Configuracion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466344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Parametros del pipeline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Evaluacion y Metricas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Accuracy, Precision, Recall, F1-Score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Reportes generados por fase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82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4754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Reporte JSON con predicciones detalladas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182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40280"/>
            <a:ext cx="4754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Validacion: accuracy, precision, recall, F1 por modelo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182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14600"/>
            <a:ext cx="4754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Ranking de modelos ordenados por rendimiento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182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788920"/>
            <a:ext cx="4754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Seleccion automatica del mejor clasificador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63240"/>
            <a:ext cx="182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063240"/>
            <a:ext cx="4754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Comparacion prediccion vs resultado real (hit/miss)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337560"/>
            <a:ext cx="182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337560"/>
            <a:ext cx="4754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Historial acumulado (metrics_history.csv)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3716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Metricas clave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196596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1965960"/>
            <a:ext cx="34747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Porcentaje de aciertos en prediccion del ganador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24028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2240280"/>
            <a:ext cx="34747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De los que predijo como ganador, cuantos acerto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51460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514600"/>
            <a:ext cx="34747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De los ganadores reales, cuantos predijo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78892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F1-Score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2788920"/>
            <a:ext cx="34747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Media armonica de precision y recall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06324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MAE / RMSE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063240"/>
            <a:ext cx="34747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Error absoluto/raiz en marcadores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93192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93192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11480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Validacion automatica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480560"/>
            <a:ext cx="48463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advance_to_next_stage_guard() impide avanzar si:</a:t>
            </a:r>
            <a:br/>
            <a:br/>
            <a:r>
              <a:t>1. No existen resultados oficiales necesarios</a:t>
            </a:r>
            <a:br/>
            <a:r>
              <a:t>2. La fase anterior no ha sido evaluada</a:t>
            </a:r>
            <a:br/>
            <a:br/>
            <a:r>
              <a:t>Mensaje tipico:</a:t>
            </a:r>
            <a:br/>
            <a:r>
              <a:t>[DETENIDO] La fase R16 aun no ha sido evaluada.</a:t>
            </a:r>
            <a:br/>
            <a:r>
              <a:t>Ejecute: python scripts/update_stage.py R16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93192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393192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411480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Pesos dinamicos del Ensemble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480560"/>
            <a:ext cx="48463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Peso_m = accuracy_m / sum(accuracy_total)</a:t>
            </a:r>
            <a:br/>
            <a:br/>
            <a:r>
              <a:t>Ejemplo tras validacion de R32:</a:t>
            </a:r>
            <a:br/>
            <a:r>
              <a:t>LR:  0.500  &gt;  Peso: 0.27</a:t>
            </a:r>
            <a:br/>
            <a:r>
              <a:t>RF:  0.500  &gt;  Peso: 0.27</a:t>
            </a:r>
            <a:br/>
            <a:r>
              <a:t>XGB: 0.833  &gt;  Peso: 0.46</a:t>
            </a:r>
            <a:br/>
            <a:br/>
            <a:r>
              <a:t>El modelo mas fiable tiene mayor influencia.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Estructura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Organizacion del codigo y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mundial2026_predictor/</a:t>
            </a:r>
            <a:br/>
            <a:r>
              <a:t>  dashboard/          Aplicacion Streamlit (8 paginas)</a:t>
            </a:r>
            <a:br/>
            <a:r>
              <a:t>  data/               Datos del torneo</a:t>
            </a:r>
            <a:br/>
            <a:r>
              <a:t>    raw/              Datos originales (CSV, JSON)</a:t>
            </a:r>
            <a:br/>
            <a:r>
              <a:t>    processed/        Predicciones y comparaciones</a:t>
            </a:r>
            <a:br/>
            <a:r>
              <a:t>  outputs/            Reportes, logs e historicos</a:t>
            </a:r>
            <a:br/>
            <a:r>
              <a:t>  saved_models/       Modelos entrenados (.joblib)</a:t>
            </a:r>
            <a:br/>
            <a:r>
              <a:t>  scripts/            Scripts de ejecucion</a:t>
            </a:r>
            <a:br/>
            <a:r>
              <a:t>    run_stage.py      Ejecutar prediccion de fase</a:t>
            </a:r>
            <a:br/>
            <a:r>
              <a:t>    update_stage.py   Validar fase con resultados</a:t>
            </a:r>
            <a:br/>
            <a:r>
              <a:t>    train_models.py   Entrenar modelos</a:t>
            </a:r>
            <a:br/>
            <a:r>
              <a:t>  src/                Codigo fuente del pipeline</a:t>
            </a:r>
            <a:br/>
            <a:r>
              <a:t>    pipeline.py       Orquestador principal</a:t>
            </a:r>
            <a:br/>
            <a:r>
              <a:t>    models.py         Definicion de modelos ML</a:t>
            </a:r>
            <a:br/>
            <a:r>
              <a:t>    feature_engineering.py  Construccion de features</a:t>
            </a:r>
            <a:br/>
            <a:r>
              <a:t>    evaluation.py     Metricas y validacion</a:t>
            </a:r>
            <a:br/>
            <a:r>
              <a:t>    config.py         Configuracion central</a:t>
            </a:r>
            <a:br/>
            <a:r>
              <a:t>  tests/              Pruebas unitarias (pytest)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Ejecucion del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Comandos para correr cada fase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Predecir una fase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48463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2E86AB"/>
                </a:solidFill>
                <a:latin typeface="Calibri"/>
              </a:defRPr>
            </a:pPr>
            <a:r>
              <a:t>python scripts/train_models.py</a:t>
            </a:r>
            <a:br/>
            <a:br/>
            <a:r>
              <a:t>python scripts/run_stage.py R32</a:t>
            </a:r>
            <a:br/>
            <a:r>
              <a:t>python scripts/run_stage.py R16</a:t>
            </a:r>
            <a:br/>
            <a:r>
              <a:t>python scripts/run_stage.py QF</a:t>
            </a:r>
            <a:br/>
            <a:r>
              <a:t>python scripts/run_stage.py SF</a:t>
            </a:r>
            <a:br/>
            <a:r>
              <a:t>python scripts/run_stage.py FINAL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Validar una fase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48463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2E86AB"/>
                </a:solidFill>
                <a:latin typeface="Calibri"/>
              </a:defRPr>
            </a:pPr>
            <a:r>
              <a:t>python scripts/update_stage.py R32</a:t>
            </a:r>
            <a:br/>
            <a:r>
              <a:t>python scripts/update_stage.py R16</a:t>
            </a:r>
            <a:br/>
            <a:r>
              <a:t>python scripts/update_stage.py QF</a:t>
            </a:r>
            <a:br/>
            <a:r>
              <a:t>python scripts/update_stage.py SF</a:t>
            </a:r>
            <a:br/>
            <a:r>
              <a:t>python scripts/update_stage.py FINAL</a:t>
            </a:r>
            <a:br/>
            <a:br/>
            <a:r>
              <a:t>streamlit run dashboard/app.py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112471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1124712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Notas importantes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80560"/>
            <a:ext cx="105156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Los modelos se guardan en saved_models/ con Joblib y se reutilizan entre ejecuciones.</a:t>
            </a:r>
            <a:br/>
            <a:r>
              <a:t>Si se agregan nuevos datos historicos, se pueden reentrenar con train_models.py.</a:t>
            </a:r>
            <a:br/>
            <a:br/>
            <a:r>
              <a:t>Tests:  pytest -q  (ejecuta todas las pruebas unitarias)</a:t>
            </a:r>
            <a:br/>
            <a:br/>
            <a:r>
              <a:t>El pipeline impide avanzar si la fase anterior no ha sido validada.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Conclusiones y Trabajo Futuro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Logros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02996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Pipeline completo y reproducible para 6 fases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35000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Ensemble adaptable con pesos dinamicos por 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67004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65176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Validacion automatica contra resultados reales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99008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7180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Dashboard interactivo con 8 secciones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31012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29184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Feature engineering con 31 variables predictivas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3016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Persistencia de modelos con Joblib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95020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93192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Cobertura de pruebas con Pytest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371600"/>
            <a:ext cx="5486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Trabajo futuro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029968"/>
            <a:ext cx="73152" cy="73152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01168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Incorporar datos de lesiones en tiempo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350008"/>
            <a:ext cx="73152" cy="73152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33172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Modelo de Deep Learning (redes neuronales)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670048"/>
            <a:ext cx="73152" cy="73152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265176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Prediccion de formacion tactica (XI inicial)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2990088"/>
            <a:ext cx="73152" cy="73152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297180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Analisis de odds de casas de apuestas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3310128"/>
            <a:ext cx="73152" cy="73152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329184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Simulacion Monte Carlo para probabilidades del torneo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3630168"/>
            <a:ext cx="73152" cy="73152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361188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Soporte para mas torneos (Copa America, Eurocopa)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2560320"/>
            <a:ext cx="3931920" cy="54864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Gracias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0">
                <a:solidFill>
                  <a:srgbClr val="A8CCE8"/>
                </a:solidFill>
                <a:latin typeface="Calibri"/>
              </a:defRPr>
            </a:pPr>
            <a:r>
              <a:t>Predictor Mundial FIFA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657600"/>
            <a:ext cx="8229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500" b="0">
                <a:solidFill>
                  <a:srgbClr val="7A95B0"/>
                </a:solidFill>
                <a:latin typeface="Calibri"/>
              </a:defRPr>
            </a:pPr>
            <a:r>
              <a:t>Machine Learning aplicado al analisis deportivo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572000"/>
            <a:ext cx="3931920" cy="54864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493776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7A95B0"/>
                </a:solidFill>
                <a:latin typeface="Calibri"/>
              </a:defRPr>
            </a:pPr>
            <a:r>
              <a:t>Ciencia de Datos  |  Inteligencia Artificial  |  Deportes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