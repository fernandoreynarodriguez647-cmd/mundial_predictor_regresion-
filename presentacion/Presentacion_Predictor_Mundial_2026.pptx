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D4AF37"/>
                </a:solidFill>
                <a:latin typeface="Calibri"/>
              </a:defRPr>
            </a:pPr>
            <a:r>
              <a:t>PREDICTOR MUNDIAL FIFA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560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0F0F0"/>
                </a:solidFill>
                <a:latin typeface="Calibri"/>
              </a:defRPr>
            </a:pPr>
            <a:r>
              <a:t>Sistema de Predicción Deportiva basado en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291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Calibri"/>
              </a:defRPr>
            </a:pPr>
            <a:r>
              <a:t>Pipeline progresivo · Modelos de clasificación y regresión · Dashboard interactivo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754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D4AF37"/>
                </a:solidFill>
                <a:latin typeface="Calibri"/>
              </a:defRPr>
            </a:pPr>
            <a:r>
              <a:t>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54864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Ciencia de Datos · Inteligencia Artificial · Deportes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📋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AF37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1. Introducción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Motivación y objetivos del proyecto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57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AF37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057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2. 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057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Fuentes, recolección y procesamiento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60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AF37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560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3. Ingeniería de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560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De los datos crudos a variables predictivas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063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AF37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063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4. Modelos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063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Clasificación, regresión y ensemble ponderado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661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AF37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566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5. Pipeline Progresivo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Fases eliminatorias y validación paso a paso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0690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AF37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069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6. Resultados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069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Predicciones, precisión y ranking de modelos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5720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AF37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7.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572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Visualización interactiva con Streamlit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074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AF37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074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8. Conclusiones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074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Hallazgos y trabajo futuro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1. Introducción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Motivación, Objetivo y Alcance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486400" cy="2286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4864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🎯 Objetivo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50292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t>Desarrollar un sistema reproducible de predicción deportiva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BBBBBB"/>
                </a:solidFill>
                <a:latin typeface="Calibri"/>
              </a:defRPr>
            </a:pPr>
            <a:r>
              <a:t>basado en Machine Learning para las fases eliminatorias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BBBBBB"/>
                </a:solidFill>
                <a:latin typeface="Calibri"/>
              </a:defRPr>
            </a:pPr>
            <a:r>
              <a:t>de la Copa Mundial FIFA 2026.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BBBBBB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BBBBBB"/>
                </a:solidFill>
                <a:latin typeface="Calibri"/>
              </a:defRPr>
            </a:pPr>
            <a:r>
              <a:t>El pipeline avanza fase por fase usando únicamente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BBBBBB"/>
                </a:solidFill>
                <a:latin typeface="Calibri"/>
              </a:defRPr>
            </a:pPr>
            <a:r>
              <a:t>resultados oficiales ya disputados.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554480"/>
            <a:ext cx="5486400" cy="2286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554480"/>
            <a:ext cx="54864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⚽ Motivación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148840"/>
            <a:ext cx="50292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t>Demostrar aplicación de ML en análisis deportivo real.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BBBBBB"/>
                </a:solidFill>
                <a:latin typeface="Calibri"/>
              </a:defRPr>
            </a:pPr>
            <a:r>
              <a:t>Pipeline progresivo y validado contra resultados oficiales.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BBBBBB"/>
                </a:solidFill>
                <a:latin typeface="Calibri"/>
              </a:defRPr>
            </a:pPr>
            <a:r>
              <a:t>Combinación de clasificación (ganador), regresión (marcador)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BBBBBB"/>
                </a:solidFill>
                <a:latin typeface="Calibri"/>
              </a:defRPr>
            </a:pPr>
            <a:r>
              <a:t>y modelo de penales.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BBBBBB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BBBBBB"/>
                </a:solidFill>
                <a:latin typeface="Calibri"/>
              </a:defRPr>
            </a:pPr>
            <a:r>
              <a:t>No es un simulador tradicional: predice con info real.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5486400" cy="2286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54864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343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🏗️ Arquitectura General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709160"/>
            <a:ext cx="50292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t>Datos históricos (2014, 2018, 2022) → Feature Engineering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BBBBBB"/>
                </a:solidFill>
                <a:latin typeface="Calibri"/>
              </a:defRPr>
            </a:pPr>
            <a:r>
              <a:t>→ Entrenamiento de modelos → predicción progresiva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BBBBBB"/>
                </a:solidFill>
                <a:latin typeface="Calibri"/>
              </a:defRPr>
            </a:pPr>
            <a:r>
              <a:t>por fase (R32 → R16 → QF → SF → FINAL).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BBBBBB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BBBBBB"/>
                </a:solidFill>
                <a:latin typeface="Calibri"/>
              </a:defRPr>
            </a:pPr>
            <a:r>
              <a:t>Cada fase congela los enfrentamientos oficiales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114800"/>
            <a:ext cx="5486400" cy="2286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4114800"/>
            <a:ext cx="54864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343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📐 Alcance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709160"/>
            <a:ext cx="50292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t>6 fases eliminatorias del Mundial 2026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BBBBBB"/>
                </a:solidFill>
                <a:latin typeface="Calibri"/>
              </a:defRPr>
            </a:pPr>
            <a:r>
              <a:t>3 modelos de clasificación + 2 regresores + penal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BBBBBB"/>
                </a:solidFill>
                <a:latin typeface="Calibri"/>
              </a:defRPr>
            </a:pPr>
            <a:r>
              <a:t>Dashboard interactivo en Streamlit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BBBBBB"/>
                </a:solidFill>
                <a:latin typeface="Calibri"/>
              </a:defRPr>
            </a:pPr>
            <a:r>
              <a:t>Reportes automáticos y métricas por fase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BBBBBB"/>
                </a:solidFill>
                <a:latin typeface="Calibri"/>
              </a:defRPr>
            </a:pPr>
            <a:r>
              <a:t>Validación contra resultados reales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🛠️ Stack Tecnológico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474720" cy="21945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4747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F37"/>
                </a:solidFill>
                <a:latin typeface="Calibri"/>
              </a:defRPr>
            </a:pPr>
            <a:r>
              <a:t>🐍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Lenguaje principal del proyecto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Pandas, NumPy, Scikit-learn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554480"/>
            <a:ext cx="3474720" cy="21945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554480"/>
            <a:ext cx="34747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F37"/>
                </a:solidFill>
                <a:latin typeface="Calibri"/>
              </a:defRPr>
            </a:pPr>
            <a:r>
              <a:t>🤖 XGBoost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Gradient Boosting de alto rendimiento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6517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clasificación y regresión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554480"/>
            <a:ext cx="3474720" cy="21945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554480"/>
            <a:ext cx="34747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F37"/>
                </a:solidFill>
                <a:latin typeface="Calibri"/>
              </a:defRPr>
            </a:pPr>
            <a:r>
              <a:t>📊 Streamlit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Dashboard interactivo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6517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visualización de predicciones y métricas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14800"/>
            <a:ext cx="3474720" cy="21945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114800"/>
            <a:ext cx="34747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97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F37"/>
                </a:solidFill>
                <a:latin typeface="Calibri"/>
              </a:defRPr>
            </a:pPr>
            <a:r>
              <a:t>📈 Plotly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54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Gráficos interactivos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2120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curvas de aprendizaje, feature importance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4114800"/>
            <a:ext cx="3474720" cy="21945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4114800"/>
            <a:ext cx="34747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4297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F37"/>
                </a:solidFill>
                <a:latin typeface="Calibri"/>
              </a:defRPr>
            </a:pPr>
            <a:r>
              <a:t>💾 Joblib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754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Persistencia de modelos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2120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carga/guardado de pipelines entrenados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4114800"/>
            <a:ext cx="3474720" cy="21945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4114800"/>
            <a:ext cx="34747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4297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F37"/>
                </a:solidFill>
                <a:latin typeface="Calibri"/>
              </a:defRPr>
            </a:pPr>
            <a:r>
              <a:t>🧪 Pytest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754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Testing automatizado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2120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validación del pipeline completo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2.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Fuentes de información y estructura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F37"/>
                </a:solidFill>
                <a:latin typeface="Calibri"/>
              </a:defRPr>
            </a:pPr>
            <a:r>
              <a:t>📂 data/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├── raw/    → Datos originales sin procesar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└── processed/ → Datos transformados y predicciones por fase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834640"/>
            <a:ext cx="10332720" cy="5029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9077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Calibri"/>
              </a:defRPr>
            </a:pPr>
            <a:r>
              <a:t>historical_matches.csv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Partidos eliminatorios (2014, 2018, 2022)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9077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36 registros con marcador, ganador, fase y penales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383280"/>
            <a:ext cx="10332720" cy="5029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4564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Calibri"/>
              </a:defRPr>
            </a:pPr>
            <a:r>
              <a:t>teams_static.csv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4564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Estadísticas estáticas de selecciones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4564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Ranking FIFA, historial mundialista, fase de grupos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931920"/>
            <a:ext cx="10332720" cy="5029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0050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Calibri"/>
              </a:defRPr>
            </a:pPr>
            <a:r>
              <a:t>players.csv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00507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Jugadores clave por selección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0050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Edad, goles, rating, lesiones, suspensión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480560"/>
            <a:ext cx="10332720" cy="5029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5537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Calibri"/>
              </a:defRPr>
            </a:pPr>
            <a:r>
              <a:t>historical_h2h.csv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5537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Head-to-Head histórico entre selecciones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5537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Enfrentamientos directos y resultados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5029200"/>
            <a:ext cx="10332720" cy="5029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1023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Calibri"/>
              </a:defRPr>
            </a:pPr>
            <a:r>
              <a:t>bracket_map.json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510235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Estructura del cuadro eliminatorio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51023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Mapeo de fases y enfrentamientos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5577840"/>
            <a:ext cx="10332720" cy="5029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6509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Calibri"/>
              </a:defRPr>
            </a:pPr>
            <a:r>
              <a:t>official_results.csv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56509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Resultados oficiales ya disputados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56509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Actualización conforme avanza el torneo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3. Ingeniería de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De los datos crudos a variables predictivas (31 features)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566160" cy="23774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5661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4AF37"/>
                </a:solidFill>
                <a:latin typeface="Calibri"/>
              </a:defRPr>
            </a:pPr>
            <a:r>
              <a:t>🌍 Ranking y Mundial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fifa_ranking_pts_diff, fifa_ranking_pos_diff,</a:t>
            </a:r>
            <a:br/>
            <a:r>
              <a:t>wc_appearances_diff, wc_best_stage_diff, wc_titles_diff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566160" cy="23774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35661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4AF37"/>
                </a:solidFill>
                <a:latin typeface="Calibri"/>
              </a:defRPr>
            </a:pPr>
            <a:r>
              <a:t>⚽ Rendimiento Grupos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0116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goals_for_group_diff, goals_against_group_diff,</a:t>
            </a:r>
            <a:br/>
            <a:r>
              <a:t>group_strength_score_diff, group_position_a/b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463040"/>
            <a:ext cx="3566160" cy="23774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63040"/>
            <a:ext cx="35661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4AF37"/>
                </a:solidFill>
                <a:latin typeface="Calibri"/>
              </a:defRPr>
            </a:pPr>
            <a:r>
              <a:t>🎯 Jugadores Clave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116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key_player_availability_diff, top_scorer_goals_diff,</a:t>
            </a:r>
            <a:br/>
            <a:r>
              <a:t>key_players_avg_age_diff, prev_wc_goals_diff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3566160" cy="23774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114800"/>
            <a:ext cx="35661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4AF37"/>
                </a:solidFill>
                <a:latin typeface="Calibri"/>
              </a:defRPr>
            </a:pPr>
            <a:r>
              <a:t>📊 Estadísticas Técnicas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6634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possession_avg_diff, shots_on_target_diff,</a:t>
            </a:r>
            <a:br/>
            <a:r>
              <a:t>defensive_efficiency_diff, clean_sheets_ko_diff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4114800"/>
            <a:ext cx="3566160" cy="23774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4114800"/>
            <a:ext cx="35661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4AF37"/>
                </a:solidFill>
                <a:latin typeface="Calibri"/>
              </a:defRPr>
            </a:pPr>
            <a:r>
              <a:t>🤝 Head-to-Head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6634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h2h_wins_a, h2h_wins_b, h2h_draws,</a:t>
            </a:r>
            <a:br/>
            <a:r>
              <a:t>h2h_goal_diff_avg, h2h_penalties_a_win_rate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4114800"/>
            <a:ext cx="3566160" cy="23774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4114800"/>
            <a:ext cx="35661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4AF37"/>
                </a:solidFill>
                <a:latin typeface="Calibri"/>
              </a:defRPr>
            </a:pPr>
            <a:r>
              <a:t>🏆 Historial Eliminatorio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6634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ko_stage_historical_win_rate_a/b,</a:t>
            </a:r>
            <a:br/>
            <a:r>
              <a:t>stage_ordinal, same_confederation, host_advantage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4. Modelos de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Arquitectura de clasificación, regresión y ensemble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00" cy="23774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F37"/>
                </a:solidFill>
                <a:latin typeface="Calibri"/>
              </a:defRPr>
            </a:pPr>
            <a:r>
              <a:t>🤖 Clasificadores (¿Quién avanza?)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🔹 Logistic Regression — max_iter=2000, balanced</a:t>
            </a:r>
            <a:br/>
            <a:r>
              <a:t>🔹 Random Forest — 500 árboles, max_depth=5</a:t>
            </a:r>
            <a:br/>
            <a:r>
              <a:t>🔹 XGBoost — 400 árboles, learning_rate=0.03</a:t>
            </a:r>
            <a:br/>
            <a:br/>
            <a:r>
              <a:t>Cada modelo genera P(gana Team_A) para cada partido.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486400" cy="23774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463040"/>
            <a:ext cx="54864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F37"/>
                </a:solidFill>
                <a:latin typeface="Calibri"/>
              </a:defRPr>
            </a:pPr>
            <a:r>
              <a:t>📈 Regresores (¿Qué marcador?)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1031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🔹 XGBRegressor (score_a) — count:poisson</a:t>
            </a:r>
            <a:br/>
            <a:r>
              <a:t>🔹 XGBRegressor (score_b) — count:poisson</a:t>
            </a:r>
            <a:br/>
            <a:br/>
            <a:r>
              <a:t>Predicen goles en tiempo regular (90 min)</a:t>
            </a:r>
            <a:br/>
            <a:r>
              <a:t>para cada equipo por separado.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5486400" cy="2286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54864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F37"/>
                </a:solidFill>
                <a:latin typeface="Calibri"/>
              </a:defRPr>
            </a:pPr>
            <a:r>
              <a:t>⚖️ Ensemble Ponderado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Cada clasificador recibe un peso dinámico basado</a:t>
            </a:r>
            <a:br/>
            <a:r>
              <a:t>en su accuracy histórica en fases anteriores.</a:t>
            </a:r>
            <a:br/>
            <a:br/>
            <a:r>
              <a:t>Pesos iniciales: 1/3 cada uno.</a:t>
            </a:r>
            <a:br/>
            <a:r>
              <a:t>Se recalculan tras cada validación (update_stage).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114800"/>
            <a:ext cx="5486400" cy="2286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4114800"/>
            <a:ext cx="54864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F37"/>
                </a:solidFill>
                <a:latin typeface="Calibri"/>
              </a:defRPr>
            </a:pPr>
            <a:r>
              <a:t>⚠️ Modelo de Penales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7548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Si el marcador en 90' es empate:</a:t>
            </a:r>
            <a:br/>
            <a:r>
              <a:t>  → LogisticRegression sobre features del partido.</a:t>
            </a:r>
            <a:br/>
            <a:br/>
            <a:r>
              <a:t>Solo se entrena si hay ≥ 6 partidos con penales</a:t>
            </a:r>
            <a:br/>
            <a:r>
              <a:t>en el set de entrenamiento histórico.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5. Pipeline Progresivo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Flujo de ejecución fase por fase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103120" cy="16459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1031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F37"/>
                </a:solidFill>
                <a:latin typeface="Calibri"/>
              </a:defRPr>
            </a:pPr>
            <a:r>
              <a:t>R32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Dieciseisavos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Predicción inicial del torneo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4AF3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463040"/>
            <a:ext cx="2103120" cy="16459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40" y="1463040"/>
            <a:ext cx="21031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F37"/>
                </a:solidFill>
                <a:latin typeface="Calibri"/>
              </a:defRPr>
            </a:pPr>
            <a:r>
              <a:t>R16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965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Octavos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2860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Usa resultados oficiales de R32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4AF3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1463040"/>
            <a:ext cx="2103120" cy="16459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2080" y="1463040"/>
            <a:ext cx="21031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F37"/>
                </a:solidFill>
                <a:latin typeface="Calibri"/>
              </a:defRPr>
            </a:pPr>
            <a:r>
              <a:t>QF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1965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Cuartos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2860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Usa resultados oficiales de R16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4AF3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1463040"/>
            <a:ext cx="2103120" cy="16459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89520" y="1463040"/>
            <a:ext cx="21031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F37"/>
                </a:solidFill>
                <a:latin typeface="Calibri"/>
              </a:defRPr>
            </a:pPr>
            <a:r>
              <a:t>SF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1965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Semifinales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2860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Usa resultados oficiales de QF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4AF3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66960" y="1463040"/>
            <a:ext cx="2103120" cy="16459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6960" y="1463040"/>
            <a:ext cx="21031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0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F37"/>
                </a:solidFill>
                <a:latin typeface="Calibri"/>
              </a:defRPr>
            </a:pPr>
            <a:r>
              <a:t>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1965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Final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22860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Usa resultados oficiales de SF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383280"/>
            <a:ext cx="11247120" cy="30175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566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F37"/>
                </a:solidFill>
                <a:latin typeface="Calibri"/>
              </a:defRPr>
            </a:pPr>
            <a:r>
              <a:t>🔁 Flujo de ejecución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3977639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1. run_stage.py &lt;FASE&gt;   → Predice los partidos de la fase actual usando modelos entrenados con datos históricos</a:t>
            </a:r>
            <a:br/>
            <a:r>
              <a:t>2. update_stage.py &lt;FASE&gt; → Valida las predicciones contra resultados oficiales y recalcula pesos del ensemble</a:t>
            </a:r>
            <a:br/>
            <a:r>
              <a:t>3. Repite para la siguiente fase hasta llegar a la Final</a:t>
            </a:r>
            <a:br/>
            <a:br/>
            <a:r>
              <a:t>🛡️ Mecanismo de guardia: No se puede avanzar a una fase si la anterior no ha sido validada.</a:t>
            </a:r>
            <a:br/>
            <a:r>
              <a:t>📊 Por cada fase se genera: reporte JSON, historial de predicciones, comparación vs real, y métricas de accuracy.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6. Resultados — Semifinales (SF)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Predicciones vs resultados oficiales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36576" cy="8229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⚔️ FRA vs ESP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74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Ganador: FRA · Prob: 87.6% · Score: 1-1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A896"/>
                </a:solidFill>
                <a:latin typeface="Calibri"/>
              </a:defRPr>
            </a:pPr>
            <a:r>
              <a:t>LR: 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98DB"/>
                </a:solidFill>
                <a:latin typeface="Calibri"/>
              </a:defRPr>
            </a:pPr>
            <a:r>
              <a:t>RF: 68%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74C3C"/>
                </a:solidFill>
                <a:latin typeface="Calibri"/>
              </a:defRPr>
            </a:pPr>
            <a:r>
              <a:t>XGB: 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828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⏳ Pendiente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377440"/>
            <a:ext cx="10515600" cy="8229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377440"/>
            <a:ext cx="36576" cy="8229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423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⚔️ ENG vs ARG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788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Ganador: ARG · Prob: 19.5% · Score: 1-1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A896"/>
                </a:solidFill>
                <a:latin typeface="Calibri"/>
              </a:defRPr>
            </a:pPr>
            <a:r>
              <a:t>LR: 11%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98DB"/>
                </a:solidFill>
                <a:latin typeface="Calibri"/>
              </a:defRPr>
            </a:pPr>
            <a:r>
              <a:t>RF: 18%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74C3C"/>
                </a:solidFill>
                <a:latin typeface="Calibri"/>
              </a:defRPr>
            </a:pPr>
            <a:r>
              <a:t>XGB: 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⏳ Pendiente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383280"/>
            <a:ext cx="10515600" cy="5486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F37"/>
                </a:solidFill>
                <a:latin typeface="Calibri"/>
              </a:defRPr>
            </a:pPr>
            <a:r>
              <a:t>📊 Accuracy: 0.00% · Aciertos: 0/0 · Training set: 36 partidos históricos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7. Importancia de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¿Qué variables influyen más en las predicciones?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Calibri"/>
              </a:defRPr>
            </a:pPr>
            <a:r>
              <a:t>Logistic Regression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3474720" cy="3200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38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ko_stage_historical_win_rate_b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984248"/>
            <a:ext cx="914400" cy="1828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1938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-1.601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3474720" cy="3200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04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ko_stage_historical_win_rate_a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2350008"/>
            <a:ext cx="501100" cy="182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1460" y="23042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0.877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51760"/>
            <a:ext cx="3474720" cy="3200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6700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goals_against_group_diff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2715768"/>
            <a:ext cx="490760" cy="182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71120" y="26700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0.859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017520"/>
            <a:ext cx="3474720" cy="3200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0358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wc_best_stage_diff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3081528"/>
            <a:ext cx="307789" cy="182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88149" y="303580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0.539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383280"/>
            <a:ext cx="3474720" cy="3200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4015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key_players_avg_age_diff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3447288"/>
            <a:ext cx="304362" cy="182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84722" y="34015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0.533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49040"/>
            <a:ext cx="3474720" cy="3200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7673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stage_ordinal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34640" y="3813048"/>
            <a:ext cx="267287" cy="182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47647" y="37673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0.468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114800"/>
            <a:ext cx="3474720" cy="3200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1330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group_position_b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40" y="4178808"/>
            <a:ext cx="256434" cy="182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36794" y="41330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0.449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480560"/>
            <a:ext cx="3474720" cy="3200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4988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key_players_prev_wc_goals_diff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40" y="4544568"/>
            <a:ext cx="256205" cy="182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36565" y="44988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0.449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1920240"/>
            <a:ext cx="3474720" cy="3200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0" y="1938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key_players_prev_wc_goals_diff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66560" y="1984248"/>
            <a:ext cx="914400" cy="182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26680" y="1938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0.152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2286000"/>
            <a:ext cx="3474720" cy="3200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60" y="2304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ko_stage_historical_win_rate_b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66560" y="2350008"/>
            <a:ext cx="728999" cy="182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41279" y="23042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0.121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89120" y="2651760"/>
            <a:ext cx="3474720" cy="3200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80560" y="26700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fifa_ranking_pos_diff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66560" y="2715768"/>
            <a:ext cx="712200" cy="182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24480" y="26700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0.119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89120" y="3017520"/>
            <a:ext cx="3474720" cy="3200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80560" y="30358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fifa_ranking_pts_diff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66560" y="3081528"/>
            <a:ext cx="599400" cy="182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11680" y="303580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0.100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89120" y="3383280"/>
            <a:ext cx="3474720" cy="3200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80560" y="34015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ko_stage_historical_win_rate_a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66560" y="3447288"/>
            <a:ext cx="351000" cy="182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63280" y="34015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0.059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89120" y="3749040"/>
            <a:ext cx="3474720" cy="3200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80560" y="37673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key_players_avg_age_diff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66560" y="3813048"/>
            <a:ext cx="338399" cy="182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50679" y="37673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0.056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89120" y="4114800"/>
            <a:ext cx="3474720" cy="3200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80560" y="41330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wc_best_stage_diff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766560" y="4178808"/>
            <a:ext cx="332999" cy="182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45279" y="41330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0.056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389120" y="4480560"/>
            <a:ext cx="3474720" cy="3200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480560" y="44988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stage_ordinal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766560" y="4544568"/>
            <a:ext cx="304800" cy="182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17080" y="44988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0.051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2104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321040" y="1920240"/>
            <a:ext cx="3474720" cy="3200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412480" y="1938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ko_stage_historical_win_rate_b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698480" y="1984248"/>
            <a:ext cx="914400" cy="182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658600" y="1938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0.173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21040" y="2286000"/>
            <a:ext cx="3474720" cy="3200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412480" y="2304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key_players_prev_wc_goals_diff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698480" y="2350008"/>
            <a:ext cx="838200" cy="182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582400" y="23042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0.158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321040" y="2651760"/>
            <a:ext cx="3474720" cy="3200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412480" y="26700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ko_stage_historical_win_rate_a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698480" y="2715768"/>
            <a:ext cx="775229" cy="182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519429" y="26700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0.146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321040" y="3017520"/>
            <a:ext cx="3474720" cy="3200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412480" y="30358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fifa_ranking_pos_diff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698480" y="3081528"/>
            <a:ext cx="754062" cy="182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498262" y="303580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0.142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321040" y="3383280"/>
            <a:ext cx="3474720" cy="3200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412480" y="34015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wc_best_stage_diff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698480" y="3447288"/>
            <a:ext cx="522287" cy="182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266487" y="34015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0.099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321040" y="3749040"/>
            <a:ext cx="3474720" cy="3200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412480" y="37673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wc_titles_diff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698480" y="3813048"/>
            <a:ext cx="420687" cy="182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164887" y="37673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0.080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321040" y="4114800"/>
            <a:ext cx="3474720" cy="3200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412480" y="41330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goals_for_group_diff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698480" y="4178808"/>
            <a:ext cx="275695" cy="182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1019895" y="41330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0.052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321040" y="4480560"/>
            <a:ext cx="3474720" cy="3200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412480" y="44988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group_strength_score_diff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698480" y="4544568"/>
            <a:ext cx="220662" cy="1828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964862" y="44988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0.042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8. Dashboard Interactivo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Visualización con Streamlit + Plotly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651760" cy="2286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6517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Calibri"/>
              </a:defRPr>
            </a:pPr>
            <a:r>
              <a:t>📊 Resumen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Vista general del torneo, predicciones y accuracy por fase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463040"/>
            <a:ext cx="2651760" cy="2286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463040"/>
            <a:ext cx="26517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Calibri"/>
              </a:defRPr>
            </a:pPr>
            <a:r>
              <a:t>⚽ Predicciones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0574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Listado de partidos con marcador, probabilidad y ganador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463040"/>
            <a:ext cx="2651760" cy="2286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26517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Calibri"/>
              </a:defRPr>
            </a:pPr>
            <a:r>
              <a:t>🤖 Modelos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574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Comparación entre Logistic Regression, RF y XGBoost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463040"/>
            <a:ext cx="2651760" cy="2286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463040"/>
            <a:ext cx="26517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Calibri"/>
              </a:defRPr>
            </a:pPr>
            <a:r>
              <a:t>🔍 Explicabilidad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0574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Feature importance y SHAP values por fase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2651760" cy="2286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114800"/>
            <a:ext cx="26517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251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Calibri"/>
              </a:defRPr>
            </a:pPr>
            <a:r>
              <a:t>📈 Métricas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7091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Evolución de accuracy, F1-score y error a lo largo del torneo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4114800"/>
            <a:ext cx="2651760" cy="2286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83280" y="4114800"/>
            <a:ext cx="26517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0440" y="4251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Calibri"/>
              </a:defRPr>
            </a:pPr>
            <a:r>
              <a:t>📜 Historial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7091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Histórico completo de predicciones vs resultados oficiales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114800"/>
            <a:ext cx="2651760" cy="2286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114800"/>
            <a:ext cx="26517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251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Calibri"/>
              </a:defRPr>
            </a:pPr>
            <a:r>
              <a:t>🌳 Árbol del Mundial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7091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Cuadro eliminatorio interactivo con predicciones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40" y="4114800"/>
            <a:ext cx="2651760" cy="2286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35440" y="4114800"/>
            <a:ext cx="26517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72600" y="4251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Calibri"/>
              </a:defRPr>
            </a:pPr>
            <a:r>
              <a:t>⚙️ Configuración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47091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Parámetros del pipeline y control de ejecución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9. Evaluación y Métricas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Accuracy, Precision, Recall, F1-Score por 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F37"/>
                </a:solidFill>
                <a:latin typeface="Calibri"/>
              </a:defRPr>
            </a:pPr>
            <a:r>
              <a:t>📋 Cada fase genera automáticamente: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▸ Reporte JSON con predicciones detalladas de cada partido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▸ Matriz de validación: accuracy, precision, recall y F1 por cada clasificador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▸ Ranking de modelos ordenados por rendimiento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▸ Selección automática del mejor clasificador para la fase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74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▸ Comparación predicción vs resultado real (hit/miss)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▸ Historial de métricas acumulado (metrics_history.csv)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06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▸ Predicción histórica completa (prediction_history.csv)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54880"/>
            <a:ext cx="11247120" cy="18288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892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F37"/>
                </a:solidFill>
                <a:latin typeface="Calibri"/>
              </a:defRPr>
            </a:pPr>
            <a:r>
              <a:t>🎯 Métricas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23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% de aciertos en predicción del ganador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303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5623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De los que predijo como ganador, cuántos acertó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5303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5623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De los ganadores reales, cuántos predijo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303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F1-Score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5623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Media armónica de precision y recall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5303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MAE / RMSE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5623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Error absoluto/raíz en predicción de marcadores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10. Validación Automática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Mecanismo de integridad del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03520" cy="48463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3035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F37"/>
                </a:solidFill>
                <a:latin typeface="Calibri"/>
              </a:defRPr>
            </a:pPr>
            <a:r>
              <a:t>🛡️ advance_to_next_stage_guard()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Impide avanzar a la siguiente fase si:</a:t>
            </a:r>
            <a:br/>
            <a:br/>
            <a:r>
              <a:t>1. No existen todos los resultados oficiales</a:t>
            </a:r>
            <a:br/>
            <a:r>
              <a:t>   necesarios para armar los enfrentamientos.</a:t>
            </a:r>
            <a:br/>
            <a:br/>
            <a:r>
              <a:t>2. La fase anterior aún no ha sido evaluada</a:t>
            </a:r>
            <a:br/>
            <a:r>
              <a:t>   con update_stage.py.</a:t>
            </a:r>
            <a:br/>
            <a:br/>
            <a:r>
              <a:t>Mensaje típico:</a:t>
            </a:r>
            <a:br/>
            <a:r>
              <a:t>  [DETENIDO] La fase R16 aún no ha sido evaluada.</a:t>
            </a:r>
            <a:br/>
            <a:r>
              <a:t>  Ejecute primero:</a:t>
            </a:r>
            <a:br/>
            <a:r>
              <a:t>  python scripts/update_stage.py R16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486400" cy="48463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4864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F37"/>
                </a:solidFill>
                <a:latin typeface="Calibri"/>
              </a:defRPr>
            </a:pPr>
            <a:r>
              <a:t>⚖️ Pesos Dinámicos del Ensemble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Los clasificadores se ponderan según su</a:t>
            </a:r>
            <a:br/>
            <a:r>
              <a:t>accuracy demostrada en fases previas:</a:t>
            </a:r>
            <a:br/>
            <a:br/>
            <a:r>
              <a:t>  Peso_m = accuracy_m / Σ accuracy_total</a:t>
            </a:r>
            <a:br/>
            <a:br/>
            <a:r>
              <a:t>Ejemplo tras validación de R32:</a:t>
            </a:r>
            <a:br/>
            <a:r>
              <a:t>  LR:  0.500 → Peso: 0.27</a:t>
            </a:r>
            <a:br/>
            <a:r>
              <a:t>  RF:  0.500 → Peso: 0.27</a:t>
            </a:r>
            <a:br/>
            <a:r>
              <a:t>  XGB: 0.833 → Peso: 0.46</a:t>
            </a:r>
            <a:br/>
            <a:br/>
            <a:r>
              <a:t>Esto permite que el modelo más fiable tenga</a:t>
            </a:r>
            <a:br/>
            <a:r>
              <a:t>mayor influencia en la predicción final.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11. Estructura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Organización del código y los datos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48463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mundial2026_predictor/</a:t>
            </a:r>
            <a:br/>
            <a:r>
              <a:t>├── dashboard/          → Aplicación Streamlit (8 páginas)</a:t>
            </a:r>
            <a:br/>
            <a:r>
              <a:t>│   ├── app.py          → Página principal</a:t>
            </a:r>
            <a:br/>
            <a:r>
              <a:t>│   ├── styles.py       → Estilos CSS personalizados</a:t>
            </a:r>
            <a:br/>
            <a:r>
              <a:t>│   ├── flags.py        → Banderas de selecciones</a:t>
            </a:r>
            <a:br/>
            <a:r>
              <a:t>│   └── pages/          → Módulos del dashboard</a:t>
            </a:r>
            <a:br/>
            <a:r>
              <a:t>├── data/               → Datos del torneo</a:t>
            </a:r>
            <a:br/>
            <a:r>
              <a:t>│   ├── raw/            → Datos originales (CSV, JSON)</a:t>
            </a:r>
            <a:br/>
            <a:r>
              <a:t>│   └── processed/      → Predicciones y comparaciones</a:t>
            </a:r>
            <a:br/>
            <a:r>
              <a:t>├── outputs/            → Reportes, logs e históricos</a:t>
            </a:r>
            <a:br/>
            <a:r>
              <a:t>├── saved_models/       → Modelos entrenados (.joblib)</a:t>
            </a:r>
            <a:br/>
            <a:r>
              <a:t>├── scripts/            → Scripts de ejecución</a:t>
            </a:r>
            <a:br/>
            <a:r>
              <a:t>│   ├── run_stage.py    → Ejecutar predicción de fase</a:t>
            </a:r>
            <a:br/>
            <a:r>
              <a:t>│   ├── update_stage.py → Validar fase con resultados</a:t>
            </a:r>
            <a:br/>
            <a:r>
              <a:t>│   └── train_models.py → Entrenar modelos</a:t>
            </a:r>
            <a:br/>
            <a:r>
              <a:t>├── src/                → Código fuente del pipeline</a:t>
            </a:r>
            <a:br/>
            <a:r>
              <a:t>│   ├── pipeline.py     → Orquestador principal</a:t>
            </a:r>
            <a:br/>
            <a:r>
              <a:t>│   ├── models.py       → Definición de modelos</a:t>
            </a:r>
            <a:br/>
            <a:r>
              <a:t>│   ├── feature_engineering.py → Construcción de features</a:t>
            </a:r>
            <a:br/>
            <a:r>
              <a:t>│   └── ...</a:t>
            </a:r>
            <a:br/>
            <a:r>
              <a:t>└── tests/              → Pruebas unitarias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12. ¿Cómo Ejecutar?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Comandos para correr el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00" cy="2286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F37"/>
                </a:solidFill>
                <a:latin typeface="Calibri"/>
              </a:defRPr>
            </a:pPr>
            <a:r>
              <a:t>▶️ Predecir una fase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A896"/>
                </a:solidFill>
                <a:latin typeface="Calibri"/>
              </a:defRPr>
            </a:pPr>
            <a:r>
              <a:t># Entrenar modelos</a:t>
            </a:r>
            <a:br/>
            <a:r>
              <a:t>python scripts/train_models.py</a:t>
            </a:r>
            <a:br/>
            <a:br/>
            <a:r>
              <a:t># Predecir una fase</a:t>
            </a:r>
            <a:br/>
            <a:r>
              <a:t>python scripts/run_stage.py R32</a:t>
            </a:r>
            <a:br/>
            <a:r>
              <a:t>python scripts/run_stage.py R16</a:t>
            </a:r>
            <a:br/>
            <a:r>
              <a:t>python scripts/run_stage.py QF</a:t>
            </a:r>
            <a:br/>
            <a:r>
              <a:t>python scripts/run_stage.py SF</a:t>
            </a:r>
            <a:br/>
            <a:r>
              <a:t>python scripts/run_stage.py FINAL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486400" cy="2286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463040"/>
            <a:ext cx="54864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F37"/>
                </a:solidFill>
                <a:latin typeface="Calibri"/>
              </a:defRPr>
            </a:pPr>
            <a:r>
              <a:t>✅ Validar una fase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1031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A896"/>
                </a:solidFill>
                <a:latin typeface="Calibri"/>
              </a:defRPr>
            </a:pPr>
            <a:r>
              <a:t># Validar predicciones contra resultados</a:t>
            </a:r>
            <a:br/>
            <a:r>
              <a:t>python scripts/update_stage.py R32</a:t>
            </a:r>
            <a:br/>
            <a:r>
              <a:t>python scripts/update_stage.py R16</a:t>
            </a:r>
            <a:br/>
            <a:r>
              <a:t>python scripts/update_stage.py QF</a:t>
            </a:r>
            <a:br/>
            <a:r>
              <a:t>python scripts/update_stage.py SF</a:t>
            </a:r>
            <a:br/>
            <a:r>
              <a:t>python scripts/update_stage.py FINAL</a:t>
            </a:r>
            <a:br/>
            <a:br/>
            <a:r>
              <a:t># Dashboard interactivo</a:t>
            </a:r>
            <a:br/>
            <a:r>
              <a:t>streamlit run dashboard/app.py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11247120" cy="23774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F37"/>
                </a:solidFill>
                <a:latin typeface="Calibri"/>
              </a:defRPr>
            </a:pPr>
            <a:r>
              <a:t>🧪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634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A896"/>
                </a:solidFill>
                <a:latin typeface="Calibri"/>
              </a:defRPr>
            </a:pPr>
            <a:r>
              <a:t>pytest -q    # Ejecuta todas las pruebas unitarias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Los modelos se guardan en saved_models/ y se reutilizan entre ejecuciones.</a:t>
            </a:r>
            <a:br/>
            <a:r>
              <a:t>Si se agregan nuevos datos históricos, se pueden reentrenar con train_models.py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13. Conclusiones y Trabajo Futuro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486400" cy="48463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F37"/>
                </a:solidFill>
                <a:latin typeface="Calibri"/>
              </a:defRPr>
            </a:pPr>
            <a:r>
              <a:t>✅ Logros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✔ Pipeline completo y reproducible para las 6 fases</a:t>
            </a:r>
            <a:br/>
            <a:br/>
            <a:r>
              <a:t>✔ Ensemble adaptable con pesos dinámicos</a:t>
            </a:r>
            <a:br/>
            <a:br/>
            <a:r>
              <a:t>✔ Validación automática contra resultados reales</a:t>
            </a:r>
            <a:br/>
            <a:br/>
            <a:r>
              <a:t>✔ Dashboard interactivo con 8 secciones</a:t>
            </a:r>
            <a:br/>
            <a:br/>
            <a:r>
              <a:t>✔ Feature engineering con 31 variables</a:t>
            </a:r>
            <a:br/>
            <a:br/>
            <a:r>
              <a:t>✔ Cobertura de tests con pytest</a:t>
            </a:r>
            <a:br/>
            <a:br/>
            <a:r>
              <a:t>✔ Persistencia de modelos (joblib)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63040"/>
            <a:ext cx="5486400" cy="48463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4864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F37"/>
                </a:solidFill>
                <a:latin typeface="Calibri"/>
              </a:defRPr>
            </a:pPr>
            <a:r>
              <a:t>🔮 Trabajo Futuro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• Incorporar datos de lesiones en tiempo real</a:t>
            </a:r>
            <a:br/>
            <a:br/>
            <a:r>
              <a:t>• Modelo de Deep Learning (redes neuronales)</a:t>
            </a:r>
            <a:br/>
            <a:br/>
            <a:r>
              <a:t>• Predicción de formación táctica (XI inicial)</a:t>
            </a:r>
            <a:br/>
            <a:br/>
            <a:r>
              <a:t>• Análisis de odds de casas de apuestas</a:t>
            </a:r>
            <a:br/>
            <a:br/>
            <a:r>
              <a:t>• Simulación Monte Carlo para distribución de</a:t>
            </a:r>
            <a:br/>
            <a:r>
              <a:t>  probabilidades del torneo completo</a:t>
            </a:r>
            <a:br/>
            <a:br/>
            <a:r>
              <a:t>• Soporte para más torneos (Copa América, Eurocopa)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D4AF37"/>
                </a:solidFill>
                <a:latin typeface="Calibri"/>
              </a:defRPr>
            </a:pPr>
            <a: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Predictor Mundial FIFA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Calibri"/>
              </a:defRPr>
            </a:pPr>
            <a:r>
              <a:t>Machine Learning aplicado al análisis deportivo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Calibri"/>
              </a:defRPr>
            </a:pPr>
            <a:r>
              <a:t>📧 Ciencia de Datos · IA · Deportes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5486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D4AF37"/>
                </a:solidFill>
                <a:latin typeface="Calibri"/>
              </a:defRPr>
            </a:pPr>
            <a:r>
              <a:t>⚽🏆⚽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